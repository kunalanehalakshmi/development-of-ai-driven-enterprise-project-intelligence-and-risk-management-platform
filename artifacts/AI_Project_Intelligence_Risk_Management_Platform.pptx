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55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E71A0-1112-B78F-766E-EB70453C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EF8A2-6876-9E74-D02C-21037C565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4413B-FECE-595C-47CC-E1020ED0F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00F4C-8E0F-6853-9D91-57F45C9D9A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10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CBED8-C6D2-30EA-7E82-4CC77EDBF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D23F8-ED89-3C47-E780-C211709F1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F84AE-F8EF-F394-FCA4-9DC40B4F2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A9138-73F7-E960-E5DA-C96294556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8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INTELLIGENCE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Enterprise Project Intelligence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Risk Management Platform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project documents to predictive risk intelligence and actionable decisions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18288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</a:t>
            </a: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Mousami Shrivastava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&amp; 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solution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6" name="Image 0" descr="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48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4390" y="2620652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project information across files &amp; tools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risk identification, after damage is done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delays with no early warning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vendor bottlenecks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 into overall project health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89320" y="1828800"/>
            <a:ext cx="5623560" cy="3977640"/>
          </a:xfrm>
          <a:prstGeom prst="roundRect">
            <a:avLst>
              <a:gd name="adj" fmla="val 2069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21031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314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214884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309360" y="2697480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14" name="Text 10"/>
          <p:cNvSpPr/>
          <p:nvPr/>
        </p:nvSpPr>
        <p:spPr>
          <a:xfrm>
            <a:off x="6492240" y="269748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+ Project Data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663940" y="3044952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09360" y="3186684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17" name="Text 13"/>
          <p:cNvSpPr/>
          <p:nvPr/>
        </p:nvSpPr>
        <p:spPr>
          <a:xfrm>
            <a:off x="6492240" y="3186684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663940" y="3534156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309360" y="3675888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0" name="Text 16"/>
          <p:cNvSpPr/>
          <p:nvPr/>
        </p:nvSpPr>
        <p:spPr>
          <a:xfrm>
            <a:off x="6492240" y="3675888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Schedule Prediction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663940" y="4023360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09360" y="4165092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3" name="Text 19"/>
          <p:cNvSpPr/>
          <p:nvPr/>
        </p:nvSpPr>
        <p:spPr>
          <a:xfrm>
            <a:off x="6492240" y="4165092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&amp; Health Analysis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663940" y="4512564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309360" y="4654296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6" name="Text 22"/>
          <p:cNvSpPr/>
          <p:nvPr/>
        </p:nvSpPr>
        <p:spPr>
          <a:xfrm>
            <a:off x="6492240" y="4654296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663940" y="500176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↓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6309360" y="5143500"/>
            <a:ext cx="4983480" cy="347472"/>
          </a:xfrm>
          <a:prstGeom prst="roundRect">
            <a:avLst>
              <a:gd name="adj" fmla="val 15789"/>
            </a:avLst>
          </a:prstGeom>
          <a:solidFill>
            <a:srgbClr val="2A3572"/>
          </a:solidFill>
          <a:ln/>
        </p:spPr>
      </p:sp>
      <p:sp>
        <p:nvSpPr>
          <p:cNvPr id="29" name="Text 25"/>
          <p:cNvSpPr/>
          <p:nvPr/>
        </p:nvSpPr>
        <p:spPr>
          <a:xfrm>
            <a:off x="6492240" y="5143500"/>
            <a:ext cx="4617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8A33D"/>
          </a:solidFill>
          <a:ln/>
        </p:spPr>
      </p:sp>
      <p:sp>
        <p:nvSpPr>
          <p:cNvPr id="31" name="Text 27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41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converts scattered project information into actionable project intelligence.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intelligence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519" y="23481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CSV / TXT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44952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319272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2194560"/>
            <a:ext cx="640080" cy="640080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12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151" y="234817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56432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tasks, milestones, risks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815584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089904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7164" y="21945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icons/codebra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0783" y="23481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27064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Non-IT workflow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586216" y="242316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860536" y="196596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97796" y="2194560"/>
            <a:ext cx="640080" cy="640080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24" name="Image 3" descr="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1415" y="234817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951976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997696" y="326440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probability, delay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485900" y="457200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9" name="Image 4" descr="icons/proje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9519" y="4725619"/>
            <a:ext cx="332842" cy="33284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40080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85800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CPM, dependencies, health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3044952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3319272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256532" y="4572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icons/bulls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0151" y="4725619"/>
            <a:ext cx="332842" cy="33284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410712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3456432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factors, model output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815584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6089904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027164" y="4572000"/>
            <a:ext cx="640080" cy="640080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41" name="Image 6" descr="icons/rob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783" y="4725619"/>
            <a:ext cx="332842" cy="33284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181344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250" dirty="0"/>
          </a:p>
        </p:txBody>
      </p:sp>
      <p:sp>
        <p:nvSpPr>
          <p:cNvPr id="43" name="Text 34"/>
          <p:cNvSpPr/>
          <p:nvPr/>
        </p:nvSpPr>
        <p:spPr>
          <a:xfrm>
            <a:off x="6227064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project assistant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8586216" y="480060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280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36"/>
          <p:cNvSpPr/>
          <p:nvPr/>
        </p:nvSpPr>
        <p:spPr>
          <a:xfrm>
            <a:off x="8860536" y="434340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9797796" y="45720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7" name="Image 7" descr="icons/clipboar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1415" y="4725619"/>
            <a:ext cx="332842" cy="33284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8951976" y="53035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8997696" y="564184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50" name="Text 40"/>
          <p:cNvSpPr/>
          <p:nvPr/>
        </p:nvSpPr>
        <p:spPr>
          <a:xfrm>
            <a:off x="1668780" y="3950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280"/>
                </a:solidFill>
              </a:rPr>
              <a:t>↓</a:t>
            </a:r>
            <a:endParaRPr lang="en-US" sz="1400" dirty="0"/>
          </a:p>
        </p:txBody>
      </p:sp>
      <p:sp>
        <p:nvSpPr>
          <p:cNvPr id="51" name="Text 41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modules, one connected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24" y="2230404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CSV / TXT → structured project information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2103120"/>
            <a:ext cx="530352" cy="530352"/>
          </a:xfrm>
          <a:prstGeom prst="ellipse">
            <a:avLst/>
          </a:prstGeom>
          <a:solidFill>
            <a:srgbClr val="E15554"/>
          </a:solidFill>
          <a:ln/>
        </p:spPr>
      </p:sp>
      <p:pic>
        <p:nvPicPr>
          <p:cNvPr id="11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852" y="223040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Intelligence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44568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level, probability, score and contributing risk factors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8745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1896" y="2103120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icons/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180" y="2230404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9408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Intelligence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11896" y="278892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forecasting and delay prediction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06240"/>
            <a:ext cx="530352" cy="530352"/>
          </a:xfrm>
          <a:prstGeom prst="ellipse">
            <a:avLst/>
          </a:prstGeom>
          <a:solidFill>
            <a:srgbClr val="6C5DD3"/>
          </a:solidFill>
          <a:ln/>
        </p:spPr>
      </p:sp>
      <p:pic>
        <p:nvPicPr>
          <p:cNvPr id="21" name="Image 3" descr="icons/proj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524" y="4333524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44752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Intelligence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path, bottlenecks and task dependencies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15968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4206240"/>
            <a:ext cx="530352" cy="530352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6" name="Image 4" descr="icons/flas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1852" y="4333524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44568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if budget, resources or timeline change?”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83296" y="397764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1896" y="420624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rob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180" y="4333524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9408" y="42336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Project Assistant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11896" y="4892040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Q&amp;A grounded in your own project documents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548640" y="59436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modules feed a single Recommendations engine and Project Health Dashboard.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vs. Non-IT — model intelligence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77840" cy="4416552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57784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557784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PROJECTS — Risk Score Prediction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4048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a continuous risk score  ·  </a:t>
            </a: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CatBoost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807208"/>
          <a:ext cx="5120640" cy="1234440"/>
        </p:xfrm>
        <a:graphic>
          <a:graphicData uri="http://schemas.openxmlformats.org/drawingml/2006/table">
            <a:tbl>
              <a:tblPr/>
              <a:tblGrid>
                <a:gridCol w="1433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0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XGBoost ★ Deployed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CatBoost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3.8612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3.3006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3.0586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2.6257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B2140"/>
                          </a:solidFill>
                        </a:rPr>
                        <a:t>0.9618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B2140"/>
                          </a:solidFill>
                        </a:rPr>
                        <a:t>0.9721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77240" y="41788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risk category (CatBoost benchmark, RMSE / MAE)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4507992"/>
            <a:ext cx="109728" cy="201168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12" name="Text 9"/>
          <p:cNvSpPr/>
          <p:nvPr/>
        </p:nvSpPr>
        <p:spPr>
          <a:xfrm>
            <a:off x="987552" y="4471416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(n=19,267)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935578" y="4471416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 / 2.93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" y="4800600"/>
            <a:ext cx="109728" cy="201168"/>
          </a:xfrm>
          <a:prstGeom prst="rect">
            <a:avLst/>
          </a:prstGeom>
          <a:solidFill>
            <a:srgbClr val="E15554"/>
          </a:solidFill>
          <a:ln/>
        </p:spPr>
      </p:sp>
      <p:sp>
        <p:nvSpPr>
          <p:cNvPr id="15" name="Text 12"/>
          <p:cNvSpPr/>
          <p:nvPr/>
        </p:nvSpPr>
        <p:spPr>
          <a:xfrm>
            <a:off x="987552" y="4764024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(n=54,759)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35578" y="4764024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3.38 / 2.70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5093208"/>
            <a:ext cx="109728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8" name="Text 15"/>
          <p:cNvSpPr/>
          <p:nvPr/>
        </p:nvSpPr>
        <p:spPr>
          <a:xfrm>
            <a:off x="987552" y="5056632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(n=90,001)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35578" y="5056632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3.18 / 2.53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7240" y="5385816"/>
            <a:ext cx="109728" cy="201168"/>
          </a:xfrm>
          <a:prstGeom prst="rect">
            <a:avLst/>
          </a:prstGeom>
          <a:solidFill>
            <a:srgbClr val="2E9E5B"/>
          </a:solidFill>
          <a:ln/>
        </p:spPr>
      </p:sp>
      <p:sp>
        <p:nvSpPr>
          <p:cNvPr id="21" name="Text 18"/>
          <p:cNvSpPr/>
          <p:nvPr/>
        </p:nvSpPr>
        <p:spPr>
          <a:xfrm>
            <a:off x="987552" y="5349240"/>
            <a:ext cx="29480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(n=35,973)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935578" y="5349240"/>
            <a:ext cx="18068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 / 2.60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77240" y="56967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355080" y="1783080"/>
            <a:ext cx="525780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55080" y="1783080"/>
            <a:ext cx="5257800" cy="457200"/>
          </a:xfrm>
          <a:prstGeom prst="roundRect">
            <a:avLst>
              <a:gd name="adj" fmla="val 18000"/>
            </a:avLst>
          </a:prstGeom>
          <a:solidFill>
            <a:srgbClr val="6C5DD3"/>
          </a:solidFill>
          <a:ln/>
        </p:spPr>
      </p:sp>
      <p:sp>
        <p:nvSpPr>
          <p:cNvPr id="26" name="Shape 23"/>
          <p:cNvSpPr/>
          <p:nvPr/>
        </p:nvSpPr>
        <p:spPr>
          <a:xfrm>
            <a:off x="6355080" y="2039112"/>
            <a:ext cx="5257800" cy="201168"/>
          </a:xfrm>
          <a:prstGeom prst="rect">
            <a:avLst/>
          </a:prstGeom>
          <a:solidFill>
            <a:srgbClr val="6C5DD3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0" y="1783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 — Risk Classification (XGBoost)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583680" y="23134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progress, budget, </a:t>
            </a:r>
            <a:r>
              <a:rPr lang="en-US" sz="1200" dirty="0" err="1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raesources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testing, security, dependencies, weather  ·  Task: Classification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8368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95.96%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58368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778383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0.9451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78383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898398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94.40%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898398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10184130" y="2743200"/>
            <a:ext cx="11087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94.62%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0184130" y="3108960"/>
            <a:ext cx="110871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2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6583680" y="3538728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ROC-AUC: 0.9939  ·  Threshold: 0.48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55080" y="3959352"/>
            <a:ext cx="5257800" cy="1984248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355080" y="3959352"/>
            <a:ext cx="5257800" cy="457200"/>
          </a:xfrm>
          <a:prstGeom prst="roundRect">
            <a:avLst>
              <a:gd name="adj" fmla="val 18000"/>
            </a:avLst>
          </a:prstGeom>
          <a:solidFill>
            <a:srgbClr val="E8A33D"/>
          </a:solidFill>
          <a:ln/>
        </p:spPr>
      </p:sp>
      <p:sp>
        <p:nvSpPr>
          <p:cNvPr id="40" name="Shape 37"/>
          <p:cNvSpPr/>
          <p:nvPr/>
        </p:nvSpPr>
        <p:spPr>
          <a:xfrm>
            <a:off x="6355080" y="4215384"/>
            <a:ext cx="5257800" cy="20116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1" name="Text 38"/>
          <p:cNvSpPr/>
          <p:nvPr/>
        </p:nvSpPr>
        <p:spPr>
          <a:xfrm>
            <a:off x="6583680" y="395935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 — Delay Prediction (Random Forest)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6583680" y="4489704"/>
            <a:ext cx="4800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progress, budget, resources, testing, bugs, dependencies, weather, productivity  ·  Task: Regression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65836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1.39 days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5836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1838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1.90 days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1838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9784080" y="5010912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0.8617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9784080" y="540410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583680" y="5715000"/>
            <a:ext cx="4800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expected launch delay in days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0" name="Shape 25"/>
          <p:cNvSpPr/>
          <p:nvPr/>
        </p:nvSpPr>
        <p:spPr>
          <a:xfrm>
            <a:off x="7959852" y="1138428"/>
            <a:ext cx="3520440" cy="2683764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</p:spPr>
      </p:sp>
      <p:sp>
        <p:nvSpPr>
          <p:cNvPr id="31" name="Text 26"/>
          <p:cNvSpPr/>
          <p:nvPr/>
        </p:nvSpPr>
        <p:spPr>
          <a:xfrm>
            <a:off x="8055864" y="1298448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FASTAPI?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055864" y="1760220"/>
            <a:ext cx="332841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ML, analytics &amp; data as REST APIs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request with Pydantic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UI from ML / business logic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independent scaling &amp; deployment</a:t>
            </a:r>
            <a:endParaRPr lang="en-US" sz="1400" dirty="0"/>
          </a:p>
          <a:p>
            <a:pPr marL="152400" indent="-1524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Swagger / OpenAPI docs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959852" y="3982071"/>
            <a:ext cx="3620317" cy="2335585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4" name="Text 29"/>
          <p:cNvSpPr/>
          <p:nvPr/>
        </p:nvSpPr>
        <p:spPr>
          <a:xfrm>
            <a:off x="7952312" y="4077377"/>
            <a:ext cx="3008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8332730" y="4552865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9311138" y="4552865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332730" y="478603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9311138" y="4786037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8332730" y="5019209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9311138" y="5019209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CatBoost, RF</a:t>
            </a:r>
            <a:endParaRPr lang="en-US" sz="1400" dirty="0"/>
          </a:p>
        </p:txBody>
      </p:sp>
      <p:sp>
        <p:nvSpPr>
          <p:cNvPr id="41" name="Text 36"/>
          <p:cNvSpPr/>
          <p:nvPr/>
        </p:nvSpPr>
        <p:spPr>
          <a:xfrm>
            <a:off x="8332730" y="5252381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9311138" y="5252381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Qdrant</a:t>
            </a:r>
            <a:endParaRPr lang="en-US" sz="1400" dirty="0"/>
          </a:p>
        </p:txBody>
      </p:sp>
      <p:sp>
        <p:nvSpPr>
          <p:cNvPr id="43" name="Text 38"/>
          <p:cNvSpPr/>
          <p:nvPr/>
        </p:nvSpPr>
        <p:spPr>
          <a:xfrm>
            <a:off x="8332730" y="5485553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9311138" y="5485553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8332730" y="5718725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400" dirty="0"/>
          </a:p>
        </p:txBody>
      </p:sp>
      <p:sp>
        <p:nvSpPr>
          <p:cNvPr id="46" name="Text 41"/>
          <p:cNvSpPr/>
          <p:nvPr/>
        </p:nvSpPr>
        <p:spPr>
          <a:xfrm>
            <a:off x="9311138" y="5718725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8332730" y="5951897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48" name="Text 43"/>
          <p:cNvSpPr/>
          <p:nvPr/>
        </p:nvSpPr>
        <p:spPr>
          <a:xfrm>
            <a:off x="9311138" y="5951897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400" dirty="0"/>
          </a:p>
        </p:txBody>
      </p:sp>
      <p:sp>
        <p:nvSpPr>
          <p:cNvPr id="49" name="Text 44"/>
          <p:cNvSpPr/>
          <p:nvPr/>
        </p:nvSpPr>
        <p:spPr>
          <a:xfrm>
            <a:off x="205080" y="6262202"/>
            <a:ext cx="68264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is the service layer that exposes ML, analytics and backend operations to the Streamlit UI through REST APIs.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88E21B7-FF57-B7C1-A1DA-C4B4FA176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09460"/>
            <a:ext cx="6936242" cy="50527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MODEL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model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200,000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01952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901952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47672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5264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55264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00984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1783080"/>
            <a:ext cx="1207008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1874520"/>
            <a:ext cx="1207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40,000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54296" y="2350008"/>
            <a:ext cx="1115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Category Distribution (n = 200,000)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4015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08760" y="3429000"/>
            <a:ext cx="3291840" cy="201168"/>
          </a:xfrm>
          <a:prstGeom prst="roundRect">
            <a:avLst>
              <a:gd name="adj" fmla="val 13636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33832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7307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3758184"/>
            <a:ext cx="2002843" cy="201168"/>
          </a:xfrm>
          <a:prstGeom prst="roundRect">
            <a:avLst>
              <a:gd name="adj" fmla="val 13636"/>
            </a:avLst>
          </a:prstGeom>
          <a:solidFill>
            <a:srgbClr val="E15554"/>
          </a:solidFill>
          <a:ln/>
        </p:spPr>
      </p:sp>
      <p:sp>
        <p:nvSpPr>
          <p:cNvPr id="22" name="Text 20"/>
          <p:cNvSpPr/>
          <p:nvPr/>
        </p:nvSpPr>
        <p:spPr>
          <a:xfrm>
            <a:off x="3584755" y="37124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54,759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599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508760" y="4087368"/>
            <a:ext cx="1315734" cy="201168"/>
          </a:xfrm>
          <a:prstGeom prst="roundRect">
            <a:avLst>
              <a:gd name="adj" fmla="val 13636"/>
            </a:avLst>
          </a:prstGeom>
          <a:solidFill>
            <a:srgbClr val="2E9E5B"/>
          </a:solidFill>
          <a:ln/>
        </p:spPr>
      </p:sp>
      <p:sp>
        <p:nvSpPr>
          <p:cNvPr id="25" name="Text 23"/>
          <p:cNvSpPr/>
          <p:nvPr/>
        </p:nvSpPr>
        <p:spPr>
          <a:xfrm>
            <a:off x="2897646" y="4041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35,973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3891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508760" y="4416552"/>
            <a:ext cx="704702" cy="201168"/>
          </a:xfrm>
          <a:prstGeom prst="roundRect">
            <a:avLst>
              <a:gd name="adj" fmla="val 13636"/>
            </a:avLst>
          </a:prstGeom>
          <a:solidFill>
            <a:srgbClr val="8B2635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614" y="43708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19,267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E9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2064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 </a:t>
            </a: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· 0 duplicate rows · 0 duplicate project IDs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200" y="1874520"/>
            <a:ext cx="5440680" cy="1947672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214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9202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224942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&amp; CatBoost benchmarked → </a:t>
            </a: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deployed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256032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→ risk classification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283464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Non-IT: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→ delay prediction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3127248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reports R² (regression); Non-IT reports classification accuracy. The 80.4% below is the final, leakage-free validation figure — Slide 5 shows per-model benchmarking accuracy on the deployed classifiers.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3959352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EAF7EE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4123944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39" name="Image 0" descr="icons/checkdou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4233672"/>
            <a:ext cx="237744" cy="237744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949440" y="40690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Discipline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949440" y="4379976"/>
            <a:ext cx="4434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(rejected — outcome-variable leakage)  →  80.4% (validated — forecast-time features only)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6172200" y="5102352"/>
            <a:ext cx="5440680" cy="777240"/>
          </a:xfrm>
          <a:prstGeom prst="roundRect">
            <a:avLst>
              <a:gd name="adj" fmla="val 10588"/>
            </a:avLst>
          </a:prstGeom>
          <a:solidFill>
            <a:srgbClr val="FFF3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355080" y="52486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4" name="Image 1" descr="icons/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5358384"/>
            <a:ext cx="237744" cy="237744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6949440" y="5102352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 </a:t>
            </a: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Critical-risk recall (67.6%) needs improvement — targeted for the next validation phase.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141C4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668337"/>
            <a:ext cx="2926080" cy="2926080"/>
          </a:xfrm>
          <a:prstGeom prst="ellipse">
            <a:avLst/>
          </a:prstGeom>
          <a:solidFill>
            <a:srgbClr val="141C4C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Project Assistant (RAG) &amp; Conclusion</a:t>
            </a:r>
            <a:endParaRPr lang="en-US" sz="2700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7E2423-CB54-80AF-162E-80686F95D155}"/>
              </a:ext>
            </a:extLst>
          </p:cNvPr>
          <p:cNvGrpSpPr/>
          <p:nvPr/>
        </p:nvGrpSpPr>
        <p:grpSpPr>
          <a:xfrm>
            <a:off x="404170" y="1353312"/>
            <a:ext cx="5393546" cy="4343400"/>
            <a:chOff x="548640" y="1600200"/>
            <a:chExt cx="5120640" cy="3808476"/>
          </a:xfrm>
        </p:grpSpPr>
        <p:sp>
          <p:nvSpPr>
            <p:cNvPr id="6" name="Shape 4"/>
            <p:cNvSpPr/>
            <p:nvPr/>
          </p:nvSpPr>
          <p:spPr>
            <a:xfrm>
              <a:off x="548640" y="1600200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731520" y="1600200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Project Document</a:t>
              </a:r>
              <a:endParaRPr lang="en-US" sz="10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2971800" y="1984248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2089404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31520" y="2089404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Text Extraction</a:t>
              </a:r>
              <a:endParaRPr lang="en-US" sz="105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2971800" y="2473452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" y="2578608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3" name="Text 11"/>
            <p:cNvSpPr/>
            <p:nvPr/>
          </p:nvSpPr>
          <p:spPr>
            <a:xfrm>
              <a:off x="731520" y="2578608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Chunking</a:t>
              </a:r>
              <a:endParaRPr lang="en-US" sz="10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2962656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48640" y="3067812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6" name="Text 14"/>
            <p:cNvSpPr/>
            <p:nvPr/>
          </p:nvSpPr>
          <p:spPr>
            <a:xfrm>
              <a:off x="731520" y="3067812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Embeddings</a:t>
              </a:r>
              <a:endParaRPr lang="en-US" sz="10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451860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" y="3557016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731520" y="3557016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Vector Store (Qdrant)</a:t>
              </a:r>
              <a:endParaRPr lang="en-US" sz="10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971800" y="3941064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48640" y="4046220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22" name="Text 20"/>
            <p:cNvSpPr/>
            <p:nvPr/>
          </p:nvSpPr>
          <p:spPr>
            <a:xfrm>
              <a:off x="731520" y="4046220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Relevant Context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2971800" y="4430268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548640" y="4535424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2A3572"/>
            </a:solidFill>
            <a:ln/>
          </p:spPr>
        </p:sp>
        <p:sp>
          <p:nvSpPr>
            <p:cNvPr id="25" name="Text 23"/>
            <p:cNvSpPr/>
            <p:nvPr/>
          </p:nvSpPr>
          <p:spPr>
            <a:xfrm>
              <a:off x="731520" y="4535424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Gemini</a:t>
              </a:r>
              <a:endParaRPr lang="en-US" sz="10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2971800" y="4919472"/>
              <a:ext cx="274320" cy="1234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CADCFC"/>
                  </a:solidFill>
                </a:rPr>
                <a:t>↓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548640" y="5024628"/>
              <a:ext cx="5120640" cy="384048"/>
            </a:xfrm>
            <a:prstGeom prst="roundRect">
              <a:avLst>
                <a:gd name="adj" fmla="val 14286"/>
              </a:avLst>
            </a:prstGeom>
            <a:solidFill>
              <a:srgbClr val="E8A33D"/>
            </a:solidFill>
            <a:ln/>
          </p:spPr>
        </p:sp>
        <p:sp>
          <p:nvSpPr>
            <p:cNvPr id="28" name="Text 26"/>
            <p:cNvSpPr/>
            <p:nvPr/>
          </p:nvSpPr>
          <p:spPr>
            <a:xfrm>
              <a:off x="731520" y="5024628"/>
              <a:ext cx="47548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41C4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Grounded Answer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04170" y="5929224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model predicts project risk; RAG answers questions using the project's own uploaded documents.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5066" y="135331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1" name="Shape 29"/>
          <p:cNvSpPr/>
          <p:nvPr/>
        </p:nvSpPr>
        <p:spPr>
          <a:xfrm>
            <a:off x="6289658" y="1499616"/>
            <a:ext cx="320040" cy="73152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289658" y="162763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89658" y="192024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project risk and delay prediction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936846" y="135331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5" name="Shape 33"/>
          <p:cNvSpPr/>
          <p:nvPr/>
        </p:nvSpPr>
        <p:spPr>
          <a:xfrm>
            <a:off x="9101438" y="1499616"/>
            <a:ext cx="320040" cy="73152"/>
          </a:xfrm>
          <a:prstGeom prst="roundRect">
            <a:avLst/>
          </a:prstGeom>
          <a:solidFill>
            <a:srgbClr val="6C5DD3"/>
          </a:solidFill>
          <a:ln/>
        </p:spPr>
      </p:sp>
      <p:sp>
        <p:nvSpPr>
          <p:cNvPr id="36" name="Text 34"/>
          <p:cNvSpPr/>
          <p:nvPr/>
        </p:nvSpPr>
        <p:spPr>
          <a:xfrm>
            <a:off x="9101438" y="162763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01438" y="192024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intelligence, dependencies &amp; RAG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5066" y="258775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89658" y="2734056"/>
            <a:ext cx="320040" cy="73152"/>
          </a:xfrm>
          <a:prstGeom prst="roundRect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/>
          <p:nvPr/>
        </p:nvSpPr>
        <p:spPr>
          <a:xfrm>
            <a:off x="6289658" y="286207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89658" y="315468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project scenarios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936846" y="2587752"/>
            <a:ext cx="2628900" cy="1051560"/>
          </a:xfrm>
          <a:prstGeom prst="roundRect">
            <a:avLst>
              <a:gd name="adj" fmla="val 6957"/>
            </a:avLst>
          </a:prstGeom>
          <a:solidFill>
            <a:srgbClr val="263080"/>
          </a:solidFill>
          <a:ln/>
        </p:spPr>
      </p:sp>
      <p:sp>
        <p:nvSpPr>
          <p:cNvPr id="43" name="Shape 41"/>
          <p:cNvSpPr/>
          <p:nvPr/>
        </p:nvSpPr>
        <p:spPr>
          <a:xfrm>
            <a:off x="9101438" y="2734056"/>
            <a:ext cx="320040" cy="73152"/>
          </a:xfrm>
          <a:prstGeom prst="roundRect">
            <a:avLst/>
          </a:prstGeom>
          <a:solidFill>
            <a:srgbClr val="E15554"/>
          </a:solidFill>
          <a:ln/>
        </p:spPr>
      </p:sp>
      <p:sp>
        <p:nvSpPr>
          <p:cNvPr id="44" name="Text 42"/>
          <p:cNvSpPr/>
          <p:nvPr/>
        </p:nvSpPr>
        <p:spPr>
          <a:xfrm>
            <a:off x="9101438" y="2862072"/>
            <a:ext cx="22997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01438" y="3154680"/>
            <a:ext cx="22997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Risk-driven recommendations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25066" y="3867912"/>
            <a:ext cx="5440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125066" y="4142232"/>
            <a:ext cx="5440680" cy="12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 Integration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Jira, Azure DevOps and MS Project sync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Continuous risk, schedule and dependency tracking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Critical-Risk Detection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Cost-sensitive and class-balancing approaches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Explainable AI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Per-project SHAP-based prediction explanations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Enterprise-Scale Deployment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Cloud infrastructure, autoscaling and CI/CD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125066" y="5943600"/>
            <a:ext cx="5440680" cy="502920"/>
          </a:xfrm>
          <a:prstGeom prst="roundRect">
            <a:avLst>
              <a:gd name="adj" fmla="val 12727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9" name="Text 47"/>
          <p:cNvSpPr/>
          <p:nvPr/>
        </p:nvSpPr>
        <p:spPr>
          <a:xfrm>
            <a:off x="6170786" y="5948172"/>
            <a:ext cx="5166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41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scattered project information to actionable project intelligence.”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D678B-626C-160D-C693-7A2ED8F7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8531EA7-EA1A-5667-6331-2E2254B014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7648677-D148-46BF-C8E6-A9BBCE2771F4}"/>
              </a:ext>
            </a:extLst>
          </p:cNvPr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F75E7-0806-0E1E-E004-D473C556DB09}"/>
              </a:ext>
            </a:extLst>
          </p:cNvPr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B4004B-5659-D619-AF4C-72F4147ED4AE}"/>
              </a:ext>
            </a:extLst>
          </p:cNvPr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6DEDAF-1293-3A44-1BDE-CA154AE0B4BC}"/>
              </a:ext>
            </a:extLst>
          </p:cNvPr>
          <p:cNvSpPr/>
          <p:nvPr/>
        </p:nvSpPr>
        <p:spPr>
          <a:xfrm>
            <a:off x="2205872" y="2660244"/>
            <a:ext cx="6806153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Demonstration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902677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19A9B-2658-8FA2-068A-4C1FE2A94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993AA4-CC54-0A52-5ED5-F5372F6331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7EC54DDA-ED32-F7B1-0590-4DE76ECCC1B7}"/>
              </a:ext>
            </a:extLst>
          </p:cNvPr>
          <p:cNvSpPr/>
          <p:nvPr/>
        </p:nvSpPr>
        <p:spPr>
          <a:xfrm>
            <a:off x="9509760" y="-1463040"/>
            <a:ext cx="4023360" cy="402336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027E6E2-F740-1FF2-06FE-BF9D52F9BC3F}"/>
              </a:ext>
            </a:extLst>
          </p:cNvPr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C4C">
              <a:alpha val="70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A848D1-4139-5E9C-00C8-0522C2091C59}"/>
              </a:ext>
            </a:extLst>
          </p:cNvPr>
          <p:cNvSpPr/>
          <p:nvPr/>
        </p:nvSpPr>
        <p:spPr>
          <a:xfrm>
            <a:off x="8778240" y="4206240"/>
            <a:ext cx="2194560" cy="21945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A5E9FA-E02A-8164-0F05-BD34AE8DF74E}"/>
              </a:ext>
            </a:extLst>
          </p:cNvPr>
          <p:cNvSpPr/>
          <p:nvPr/>
        </p:nvSpPr>
        <p:spPr>
          <a:xfrm>
            <a:off x="3028832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157202-BAE9-F291-E7E8-3E506D49B1AF}"/>
              </a:ext>
            </a:extLst>
          </p:cNvPr>
          <p:cNvSpPr/>
          <p:nvPr/>
        </p:nvSpPr>
        <p:spPr>
          <a:xfrm>
            <a:off x="3735842" y="3922493"/>
            <a:ext cx="3221139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2516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820</Words>
  <Application>Microsoft Office PowerPoint</Application>
  <PresentationFormat>Widescreen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Kusuma Sai</cp:lastModifiedBy>
  <cp:revision>8</cp:revision>
  <dcterms:created xsi:type="dcterms:W3CDTF">2026-08-20T07:21:04Z</dcterms:created>
  <dcterms:modified xsi:type="dcterms:W3CDTF">2026-08-27T14:22:51Z</dcterms:modified>
</cp:coreProperties>
</file>